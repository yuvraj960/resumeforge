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4630400" cy="8229600"/>
  <p:notesSz cx="8229600" cy="14630400"/>
  <p:embeddedFontLst>
    <p:embeddedFont>
      <p:font typeface="Poppins" panose="00000500000000000000" pitchFamily="2" charset="0"/>
      <p:regular r:id="rId11"/>
      <p:bold r:id="rId12"/>
    </p:embeddedFont>
    <p:embeddedFont>
      <p:font typeface="Raleway Light" pitchFamily="2" charset="0"/>
      <p:regular r:id="rId13"/>
      <p:italic r:id="rId14"/>
    </p:embeddedFont>
    <p:embeddedFont>
      <p:font typeface="Raleway Medium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F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548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09655" y="34060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ResumeForge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009655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AI-Assisted Resume Generation for Modern Job Applications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D2C106-1C0E-38BB-C74D-E27208E51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30416" cy="82295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57582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Problem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80190" y="1638062"/>
            <a:ext cx="75564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resume customization is slow, repetitive, and inconsistent. Generic resumes miss JD keywords and fail ATS screening.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80190" y="2540556"/>
            <a:ext cx="3675817" cy="2749510"/>
          </a:xfrm>
          <a:prstGeom prst="roundRect">
            <a:avLst>
              <a:gd name="adj" fmla="val 3292"/>
            </a:avLst>
          </a:prstGeom>
          <a:solidFill>
            <a:srgbClr val="F3EEE3"/>
          </a:solidFill>
          <a:ln/>
        </p:spPr>
      </p:sp>
      <p:sp>
        <p:nvSpPr>
          <p:cNvPr id="6" name="Shape 3"/>
          <p:cNvSpPr/>
          <p:nvPr/>
        </p:nvSpPr>
        <p:spPr>
          <a:xfrm>
            <a:off x="6495574" y="2755940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325F7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3334" y="2933581"/>
            <a:ext cx="290870" cy="2908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5574" y="360699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Time Overhead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495574" y="4066342"/>
            <a:ext cx="324504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rewriting of summaries, projects, and skills for every application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10160675" y="2540556"/>
            <a:ext cx="3675936" cy="2749510"/>
          </a:xfrm>
          <a:prstGeom prst="roundRect">
            <a:avLst>
              <a:gd name="adj" fmla="val 3292"/>
            </a:avLst>
          </a:prstGeom>
          <a:solidFill>
            <a:srgbClr val="F3EEE3"/>
          </a:solidFill>
          <a:ln/>
        </p:spPr>
      </p:sp>
      <p:sp>
        <p:nvSpPr>
          <p:cNvPr id="11" name="Shape 7"/>
          <p:cNvSpPr/>
          <p:nvPr/>
        </p:nvSpPr>
        <p:spPr>
          <a:xfrm>
            <a:off x="10376059" y="2755940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325F7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53819" y="2933581"/>
            <a:ext cx="290870" cy="2908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76059" y="360699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Relevance Mismatch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0376059" y="4066342"/>
            <a:ext cx="324516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Generic resumes miss JD keywords and fail ATS screening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6280190" y="5494734"/>
            <a:ext cx="7556421" cy="2077283"/>
          </a:xfrm>
          <a:prstGeom prst="roundRect">
            <a:avLst>
              <a:gd name="adj" fmla="val 4357"/>
            </a:avLst>
          </a:prstGeom>
          <a:solidFill>
            <a:srgbClr val="F3EEE3"/>
          </a:solidFill>
          <a:ln/>
        </p:spPr>
      </p:sp>
      <p:sp>
        <p:nvSpPr>
          <p:cNvPr id="16" name="Shape 11"/>
          <p:cNvSpPr/>
          <p:nvPr/>
        </p:nvSpPr>
        <p:spPr>
          <a:xfrm>
            <a:off x="6495574" y="5710118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325F7B"/>
          </a:solidFill>
          <a:ln>
            <a:solidFill>
              <a:srgbClr val="325F7B"/>
            </a:solidFill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3334" y="5887760"/>
            <a:ext cx="290870" cy="29087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5574" y="656117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Version Chaos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6495574" y="7020520"/>
            <a:ext cx="71256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structured history of generated resume variants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Full-Stack Web App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Profile-driven resume generation platform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830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AI-Powered Selection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Relevant content matching for target JD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LaTeX Output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Clean, compilable, ATS-friendly format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History Tracking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Generated-resume history with snapshots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Token Efficiency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Minimize cost by sending only dynamic fields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469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0227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260389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SPA with responsive UI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3170873"/>
            <a:ext cx="35015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Profile management interface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JD input and generation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History view and actions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0078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80190" y="558903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+ Express REST API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6156008"/>
            <a:ext cx="35015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Profile CRUD operations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LaTeX generation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20227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42721" y="260389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MongoDB with Mongoose schemas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3533775"/>
            <a:ext cx="35015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profiles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Generated resumes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 snapshots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50078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AI Layer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342721" y="558903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Provider-switchable service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342721" y="6156008"/>
            <a:ext cx="35015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Ollama (local)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Gemini (cloud)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JSON output contract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7724"/>
            <a:ext cx="4310420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Generation Methodology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490067"/>
            <a:ext cx="737116" cy="8845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6632" y="163746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Save Profile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626632" y="1925241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creates master profile with all sections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374583"/>
            <a:ext cx="737116" cy="8845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26632" y="252198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Paste JD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626632" y="2809756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 description input on builder interface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259098"/>
            <a:ext cx="737116" cy="8845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26632" y="340649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AI Processing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626632" y="3694271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Lightweight context sent for relevance matching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143613"/>
            <a:ext cx="737116" cy="8845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26632" y="429101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JSON Output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626632" y="4578787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selection of summary, projects, skills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028128"/>
            <a:ext cx="737116" cy="88451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26632" y="517552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LaTeX Build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1626632" y="5463302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Deterministic template-based rendering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790" y="5912644"/>
            <a:ext cx="737116" cy="88451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626632" y="606004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History Store</a:t>
            </a:r>
            <a:endParaRPr lang="en-US" sz="1450" dirty="0"/>
          </a:p>
        </p:txBody>
      </p:sp>
      <p:sp>
        <p:nvSpPr>
          <p:cNvPr id="20" name="Text 12"/>
          <p:cNvSpPr/>
          <p:nvPr/>
        </p:nvSpPr>
        <p:spPr>
          <a:xfrm>
            <a:off x="1626632" y="6347817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 snapshot with JD and AI decisions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793791" y="6904910"/>
            <a:ext cx="5452897" cy="656869"/>
          </a:xfrm>
          <a:prstGeom prst="roundRect">
            <a:avLst>
              <a:gd name="adj" fmla="val 12716"/>
            </a:avLst>
          </a:prstGeom>
          <a:solidFill>
            <a:srgbClr val="C9DDE9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189" y="7104817"/>
            <a:ext cx="184190" cy="1473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72778" y="7037427"/>
            <a:ext cx="1241643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Token-Efficient Design:</a:t>
            </a: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Only selectable fields sent to AI. 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Static fields (personal info, education) excluded from prompts.</a:t>
            </a:r>
            <a:endParaRPr lang="en-US" sz="11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FF1B573-1C10-DA26-C3DF-4C848BE2CB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8661" y="102054"/>
            <a:ext cx="5188450" cy="80254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927735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Key Features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93790" y="1775936"/>
            <a:ext cx="7556421" cy="1401247"/>
          </a:xfrm>
          <a:prstGeom prst="roundRect">
            <a:avLst>
              <a:gd name="adj" fmla="val 7831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0930" y="1775936"/>
            <a:ext cx="91440" cy="1401247"/>
          </a:xfrm>
          <a:prstGeom prst="roundRect">
            <a:avLst>
              <a:gd name="adj" fmla="val 88558"/>
            </a:avLst>
          </a:prstGeom>
          <a:solidFill>
            <a:srgbClr val="325F7B"/>
          </a:solidFill>
          <a:ln/>
        </p:spPr>
      </p:sp>
      <p:sp>
        <p:nvSpPr>
          <p:cNvPr id="6" name="Text 3"/>
          <p:cNvSpPr/>
          <p:nvPr/>
        </p:nvSpPr>
        <p:spPr>
          <a:xfrm>
            <a:off x="1077992" y="199155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Multi-Section Profile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77992" y="2391013"/>
            <a:ext cx="705659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 info, education, experience, projects, skills, certifications managed in tabbed interface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93790" y="3341013"/>
            <a:ext cx="7556421" cy="1115973"/>
          </a:xfrm>
          <a:prstGeom prst="roundRect">
            <a:avLst>
              <a:gd name="adj" fmla="val 9832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0930" y="3341013"/>
            <a:ext cx="91440" cy="1115973"/>
          </a:xfrm>
          <a:prstGeom prst="roundRect">
            <a:avLst>
              <a:gd name="adj" fmla="val 88558"/>
            </a:avLst>
          </a:prstGeom>
          <a:solidFill>
            <a:srgbClr val="325F7B"/>
          </a:solidFill>
          <a:ln/>
        </p:spPr>
      </p:sp>
      <p:sp>
        <p:nvSpPr>
          <p:cNvPr id="10" name="Text 7"/>
          <p:cNvSpPr/>
          <p:nvPr/>
        </p:nvSpPr>
        <p:spPr>
          <a:xfrm>
            <a:off x="1077992" y="355663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JD-Aware Generation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77992" y="3956090"/>
            <a:ext cx="705659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selects and rewrites most relevant content for target job description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93790" y="4620816"/>
            <a:ext cx="7556421" cy="1401247"/>
          </a:xfrm>
          <a:prstGeom prst="roundRect">
            <a:avLst>
              <a:gd name="adj" fmla="val 7831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0930" y="4620816"/>
            <a:ext cx="91440" cy="1401247"/>
          </a:xfrm>
          <a:prstGeom prst="roundRect">
            <a:avLst>
              <a:gd name="adj" fmla="val 88558"/>
            </a:avLst>
          </a:prstGeom>
          <a:solidFill>
            <a:srgbClr val="325F7B"/>
          </a:solidFill>
          <a:ln/>
        </p:spPr>
      </p:sp>
      <p:sp>
        <p:nvSpPr>
          <p:cNvPr id="14" name="Text 11"/>
          <p:cNvSpPr/>
          <p:nvPr/>
        </p:nvSpPr>
        <p:spPr>
          <a:xfrm>
            <a:off x="1077992" y="483643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History Management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077992" y="5235892"/>
            <a:ext cx="705659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View, copy, download, delete, and restore profile from generated resume snapshots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93790" y="6185892"/>
            <a:ext cx="7556421" cy="1115973"/>
          </a:xfrm>
          <a:prstGeom prst="roundRect">
            <a:avLst>
              <a:gd name="adj" fmla="val 9832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0930" y="6185892"/>
            <a:ext cx="91440" cy="1115973"/>
          </a:xfrm>
          <a:prstGeom prst="roundRect">
            <a:avLst>
              <a:gd name="adj" fmla="val 88558"/>
            </a:avLst>
          </a:prstGeom>
          <a:solidFill>
            <a:srgbClr val="325F7B"/>
          </a:solidFill>
          <a:ln/>
        </p:spPr>
      </p:sp>
      <p:sp>
        <p:nvSpPr>
          <p:cNvPr id="18" name="Text 15"/>
          <p:cNvSpPr/>
          <p:nvPr/>
        </p:nvSpPr>
        <p:spPr>
          <a:xfrm>
            <a:off x="1077992" y="640151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LaTeX Export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1077992" y="6800969"/>
            <a:ext cx="705659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Copy to clipboard or download .tex file for compilation</a:t>
            </a:r>
            <a:endParaRPr lang="en-US" sz="15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3F69399-FDAA-945B-D204-27CF4A23F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120" y="132793"/>
            <a:ext cx="5151893" cy="79640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29972"/>
            <a:ext cx="60673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Results &amp; Performance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0057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Achievements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586871"/>
            <a:ext cx="4996074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pipeline operational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JSON to valid LaTeX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History supports auditing and restoration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Multi-profile support for varied tracks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982468" y="4772381"/>
            <a:ext cx="37572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Performance Characteristics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8477" y="5445028"/>
            <a:ext cx="5473446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Lower token usage via lightweight payloads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Reliable output with structured contracts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Scalable UX with save-once model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731680" y="2005727"/>
            <a:ext cx="331779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Current Limitations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31680" y="2559073"/>
            <a:ext cx="525961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automated benchmark suite for latency, token statistics, or ATS score comparison.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Limited test coverage for generation paths.</a:t>
            </a:r>
            <a:endParaRPr lang="en-US" sz="1750" dirty="0"/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72783" y="4959787"/>
            <a:ext cx="228492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623530"/>
            <a:ext cx="3965734" cy="495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24E73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Future Roadmap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951667" y="1578888"/>
            <a:ext cx="158591" cy="713780"/>
          </a:xfrm>
          <a:prstGeom prst="roundRect">
            <a:avLst>
              <a:gd name="adj" fmla="val 42011"/>
            </a:avLst>
          </a:prstGeom>
          <a:solidFill>
            <a:srgbClr val="F3EEE3"/>
          </a:solidFill>
          <a:ln/>
        </p:spPr>
      </p:sp>
      <p:sp>
        <p:nvSpPr>
          <p:cNvPr id="4" name="Shape 2"/>
          <p:cNvSpPr/>
          <p:nvPr/>
        </p:nvSpPr>
        <p:spPr>
          <a:xfrm>
            <a:off x="793075" y="1474827"/>
            <a:ext cx="475893" cy="475893"/>
          </a:xfrm>
          <a:prstGeom prst="roundRect">
            <a:avLst>
              <a:gd name="adj" fmla="val 96072"/>
            </a:avLst>
          </a:prstGeom>
          <a:solidFill>
            <a:srgbClr val="F3EEE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2019" y="1593890"/>
            <a:ext cx="237887" cy="2378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9815" y="1499592"/>
            <a:ext cx="1982867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Authentication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79815" y="1813917"/>
            <a:ext cx="12457509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Per-user isolated profiles with secure accounts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189553" y="2641521"/>
            <a:ext cx="158591" cy="713780"/>
          </a:xfrm>
          <a:prstGeom prst="roundRect">
            <a:avLst>
              <a:gd name="adj" fmla="val 42011"/>
            </a:avLst>
          </a:prstGeom>
          <a:solidFill>
            <a:srgbClr val="F3EEE3"/>
          </a:solidFill>
          <a:ln/>
        </p:spPr>
      </p:sp>
      <p:sp>
        <p:nvSpPr>
          <p:cNvPr id="9" name="Shape 6"/>
          <p:cNvSpPr/>
          <p:nvPr/>
        </p:nvSpPr>
        <p:spPr>
          <a:xfrm>
            <a:off x="1030962" y="2537460"/>
            <a:ext cx="475893" cy="475893"/>
          </a:xfrm>
          <a:prstGeom prst="roundRect">
            <a:avLst>
              <a:gd name="adj" fmla="val 96072"/>
            </a:avLst>
          </a:prstGeom>
          <a:solidFill>
            <a:srgbClr val="F3EEE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9906" y="2656523"/>
            <a:ext cx="237887" cy="2378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17702" y="2562225"/>
            <a:ext cx="1982867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PDF Export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617702" y="2876550"/>
            <a:ext cx="12219623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server-side LaTeX compilation to PDF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427559" y="3704153"/>
            <a:ext cx="158591" cy="713780"/>
          </a:xfrm>
          <a:prstGeom prst="roundRect">
            <a:avLst>
              <a:gd name="adj" fmla="val 42011"/>
            </a:avLst>
          </a:prstGeom>
          <a:solidFill>
            <a:srgbClr val="F3EEE3"/>
          </a:solidFill>
          <a:ln/>
        </p:spPr>
      </p:sp>
      <p:sp>
        <p:nvSpPr>
          <p:cNvPr id="14" name="Shape 10"/>
          <p:cNvSpPr/>
          <p:nvPr/>
        </p:nvSpPr>
        <p:spPr>
          <a:xfrm>
            <a:off x="1268968" y="3600093"/>
            <a:ext cx="475893" cy="475893"/>
          </a:xfrm>
          <a:prstGeom prst="roundRect">
            <a:avLst>
              <a:gd name="adj" fmla="val 96072"/>
            </a:avLst>
          </a:prstGeom>
          <a:solidFill>
            <a:srgbClr val="F3EEE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7912" y="3719155"/>
            <a:ext cx="237887" cy="2378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55708" y="3624858"/>
            <a:ext cx="1982867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Metrics Dashboard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855708" y="3939183"/>
            <a:ext cx="11981617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Generation time, token costs, success rates tracking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665446" y="4766786"/>
            <a:ext cx="158591" cy="713780"/>
          </a:xfrm>
          <a:prstGeom prst="roundRect">
            <a:avLst>
              <a:gd name="adj" fmla="val 42011"/>
            </a:avLst>
          </a:prstGeom>
          <a:solidFill>
            <a:srgbClr val="F3EEE3"/>
          </a:solidFill>
          <a:ln/>
        </p:spPr>
      </p:sp>
      <p:sp>
        <p:nvSpPr>
          <p:cNvPr id="19" name="Shape 14"/>
          <p:cNvSpPr/>
          <p:nvPr/>
        </p:nvSpPr>
        <p:spPr>
          <a:xfrm>
            <a:off x="1506855" y="4662726"/>
            <a:ext cx="475893" cy="475893"/>
          </a:xfrm>
          <a:prstGeom prst="roundRect">
            <a:avLst>
              <a:gd name="adj" fmla="val 96072"/>
            </a:avLst>
          </a:prstGeom>
          <a:solidFill>
            <a:srgbClr val="F3EEE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25798" y="4781788"/>
            <a:ext cx="237887" cy="23788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093595" y="4687491"/>
            <a:ext cx="1982867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Test Coverage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2093595" y="5001816"/>
            <a:ext cx="11743730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API, parser robustness, and LaTeX builder verification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1427559" y="5829419"/>
            <a:ext cx="158591" cy="713780"/>
          </a:xfrm>
          <a:prstGeom prst="roundRect">
            <a:avLst>
              <a:gd name="adj" fmla="val 42011"/>
            </a:avLst>
          </a:prstGeom>
          <a:solidFill>
            <a:srgbClr val="F3EEE3"/>
          </a:solidFill>
          <a:ln/>
        </p:spPr>
      </p:sp>
      <p:sp>
        <p:nvSpPr>
          <p:cNvPr id="24" name="Shape 18"/>
          <p:cNvSpPr/>
          <p:nvPr/>
        </p:nvSpPr>
        <p:spPr>
          <a:xfrm>
            <a:off x="1268968" y="5725358"/>
            <a:ext cx="475893" cy="475893"/>
          </a:xfrm>
          <a:prstGeom prst="roundRect">
            <a:avLst>
              <a:gd name="adj" fmla="val 96072"/>
            </a:avLst>
          </a:prstGeom>
          <a:solidFill>
            <a:srgbClr val="F3EEE3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87912" y="5844421"/>
            <a:ext cx="237887" cy="23788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55708" y="5750123"/>
            <a:ext cx="1982867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Enhanced AI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1855708" y="6064448"/>
            <a:ext cx="11981617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Schema validation, retries, similarity scoring, recommendations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1189553" y="6892052"/>
            <a:ext cx="158591" cy="713780"/>
          </a:xfrm>
          <a:prstGeom prst="roundRect">
            <a:avLst>
              <a:gd name="adj" fmla="val 42011"/>
            </a:avLst>
          </a:prstGeom>
          <a:solidFill>
            <a:srgbClr val="F3EEE3"/>
          </a:solidFill>
          <a:ln/>
        </p:spPr>
      </p:sp>
      <p:sp>
        <p:nvSpPr>
          <p:cNvPr id="29" name="Shape 22"/>
          <p:cNvSpPr/>
          <p:nvPr/>
        </p:nvSpPr>
        <p:spPr>
          <a:xfrm>
            <a:off x="1030962" y="6787991"/>
            <a:ext cx="475893" cy="475893"/>
          </a:xfrm>
          <a:prstGeom prst="roundRect">
            <a:avLst>
              <a:gd name="adj" fmla="val 96072"/>
            </a:avLst>
          </a:prstGeom>
          <a:solidFill>
            <a:srgbClr val="F3EEE3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9906" y="6907054"/>
            <a:ext cx="237887" cy="23788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617702" y="6812756"/>
            <a:ext cx="1982867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Multiple Templates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1617702" y="7127081"/>
            <a:ext cx="12219623" cy="215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B41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Additional themes beyond current Jake-style format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433</Words>
  <Application>Microsoft Office PowerPoint</Application>
  <PresentationFormat>Custom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Raleway Medium</vt:lpstr>
      <vt:lpstr>Raleway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Yuvraj Gupta</cp:lastModifiedBy>
  <cp:revision>2</cp:revision>
  <dcterms:created xsi:type="dcterms:W3CDTF">2026-02-26T15:59:29Z</dcterms:created>
  <dcterms:modified xsi:type="dcterms:W3CDTF">2026-02-26T16:20:26Z</dcterms:modified>
</cp:coreProperties>
</file>